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gotkarmayogi.gov.in/" TargetMode="External"/><Relationship Id="rId5" Type="http://schemas.openxmlformats.org/officeDocument/2006/relationships/hyperlink" Target="https://microdata.gov.in/NADA/index.php/catalog" TargetMode="External"/><Relationship Id="rId4" Type="http://schemas.openxmlformats.org/officeDocument/2006/relationships/hyperlink" Target="https://www.mosp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129129" y="765812"/>
            <a:ext cx="2767514" cy="69817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568" y="941917"/>
            <a:ext cx="11675367" cy="500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–26101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200" dirty="0"/>
              <a:t>Develop an AI enabled learning platform that identifies competency gaps, recommends personalized training through integration with the </a:t>
            </a:r>
            <a:r>
              <a:rPr lang="en-IN" sz="2200" dirty="0" err="1"/>
              <a:t>iGOT</a:t>
            </a:r>
            <a:r>
              <a:rPr lang="en-IN" sz="2200" dirty="0"/>
              <a:t> </a:t>
            </a:r>
            <a:r>
              <a:rPr lang="en-IN" sz="2200" dirty="0" err="1"/>
              <a:t>Karmayogi</a:t>
            </a:r>
            <a:r>
              <a:rPr lang="en-IN" sz="2200" dirty="0"/>
              <a:t> ecosystem, and capable of generating Quizzes and Multiple choice questions (MCQs) from uploaded learning materials to strengthen capacity building in India's Official Statistical System.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200" u="sng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Team Viksit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917468" y="73775"/>
            <a:ext cx="3832130" cy="70148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62255" y="1063837"/>
            <a:ext cx="4157134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3469" y="3602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Viksit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68D2F5-04BD-ED64-B6BC-CFAE37A65D64}"/>
              </a:ext>
            </a:extLst>
          </p:cNvPr>
          <p:cNvSpPr txBox="1"/>
          <p:nvPr/>
        </p:nvSpPr>
        <p:spPr>
          <a:xfrm>
            <a:off x="162064" y="1676777"/>
            <a:ext cx="59339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AI-Based Competency Profiling</a:t>
            </a:r>
            <a:br>
              <a:rPr lang="en-IN" dirty="0"/>
            </a:br>
            <a:r>
              <a:rPr lang="en-IN" dirty="0"/>
              <a:t>Build role-specific employee skill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Intelligent Competency Gap Detection</a:t>
            </a:r>
            <a:br>
              <a:rPr lang="en-IN" dirty="0"/>
            </a:br>
            <a:r>
              <a:rPr lang="en-IN" dirty="0"/>
              <a:t>Identifies the gap between an employee’s current skills and role-specific competency requirements.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Personalized Learning Roadmap</a:t>
            </a:r>
            <a:br>
              <a:rPr lang="en-IN" dirty="0"/>
            </a:br>
            <a:r>
              <a:rPr lang="en-IN" dirty="0"/>
              <a:t>Generate targeted learning roadmaps.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iGOT</a:t>
            </a:r>
            <a:r>
              <a:rPr lang="en-IN" b="1" dirty="0"/>
              <a:t> </a:t>
            </a:r>
            <a:r>
              <a:rPr lang="en-IN" b="1" dirty="0" err="1"/>
              <a:t>Karmayogi</a:t>
            </a:r>
            <a:r>
              <a:rPr lang="en-IN" b="1" dirty="0"/>
              <a:t> Integration</a:t>
            </a:r>
            <a:br>
              <a:rPr lang="en-IN" dirty="0"/>
            </a:br>
            <a:r>
              <a:rPr lang="en-IN" dirty="0"/>
              <a:t>Map gaps to relevant </a:t>
            </a:r>
            <a:r>
              <a:rPr lang="en-IN" dirty="0" err="1"/>
              <a:t>Karmayogi</a:t>
            </a:r>
            <a:r>
              <a:rPr lang="en-IN" dirty="0"/>
              <a:t> learning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AI-Powered Adaptive Quiz Generation</a:t>
            </a:r>
            <a:br>
              <a:rPr lang="en-IN" dirty="0"/>
            </a:br>
            <a:r>
              <a:rPr lang="en-IN" dirty="0"/>
              <a:t>Generate AI-powered MCQs from learning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AI Learning Assistant</a:t>
            </a:r>
          </a:p>
          <a:p>
            <a:r>
              <a:rPr lang="en-IN" dirty="0"/>
              <a:t>     Provide contextual learning guidance.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28BCF7-4AC6-D41B-D842-11F9091C92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7557844"/>
              </p:ext>
            </p:extLst>
          </p:nvPr>
        </p:nvGraphicFramePr>
        <p:xfrm>
          <a:off x="83469" y="951573"/>
          <a:ext cx="12023863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6610">
                  <a:extLst>
                    <a:ext uri="{9D8B030D-6E8A-4147-A177-3AD203B41FA5}">
                      <a16:colId xmlns:a16="http://schemas.microsoft.com/office/drawing/2014/main" val="2687296468"/>
                    </a:ext>
                  </a:extLst>
                </a:gridCol>
                <a:gridCol w="6267253">
                  <a:extLst>
                    <a:ext uri="{9D8B030D-6E8A-4147-A177-3AD203B41FA5}">
                      <a16:colId xmlns:a16="http://schemas.microsoft.com/office/drawing/2014/main" val="4002762884"/>
                    </a:ext>
                  </a:extLst>
                </a:gridCol>
              </a:tblGrid>
              <a:tr h="5616364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11798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A1C7DC-8A3C-6AAB-8D20-A36C3D2D482C}"/>
              </a:ext>
            </a:extLst>
          </p:cNvPr>
          <p:cNvSpPr/>
          <p:nvPr/>
        </p:nvSpPr>
        <p:spPr>
          <a:xfrm>
            <a:off x="4319389" y="73775"/>
            <a:ext cx="2987344" cy="70148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E997F5-C48D-5DD4-8BEC-108F41195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067" y="1312333"/>
            <a:ext cx="6843469" cy="53541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143249" y="248539"/>
            <a:ext cx="5905499" cy="503238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45834"/>
            <a:ext cx="116882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Team Viksit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A6FF38-16D4-CDC9-F5F2-E917B1ED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32428"/>
              </p:ext>
            </p:extLst>
          </p:nvPr>
        </p:nvGraphicFramePr>
        <p:xfrm>
          <a:off x="162064" y="1063837"/>
          <a:ext cx="11867870" cy="565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935">
                  <a:extLst>
                    <a:ext uri="{9D8B030D-6E8A-4147-A177-3AD203B41FA5}">
                      <a16:colId xmlns:a16="http://schemas.microsoft.com/office/drawing/2014/main" val="2296867721"/>
                    </a:ext>
                  </a:extLst>
                </a:gridCol>
                <a:gridCol w="5933935">
                  <a:extLst>
                    <a:ext uri="{9D8B030D-6E8A-4147-A177-3AD203B41FA5}">
                      <a16:colId xmlns:a16="http://schemas.microsoft.com/office/drawing/2014/main" val="2895764108"/>
                    </a:ext>
                  </a:extLst>
                </a:gridCol>
              </a:tblGrid>
              <a:tr h="282882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832745"/>
                  </a:ext>
                </a:extLst>
              </a:tr>
              <a:tr h="28288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675886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F2B6AA-983D-1852-F544-04CC6366D51C}"/>
              </a:ext>
            </a:extLst>
          </p:cNvPr>
          <p:cNvSpPr/>
          <p:nvPr/>
        </p:nvSpPr>
        <p:spPr>
          <a:xfrm>
            <a:off x="3513667" y="136523"/>
            <a:ext cx="5139266" cy="71664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76646A-4054-712A-A8C5-C1880A630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3670365"/>
            <a:ext cx="5933936" cy="31112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C95A52-BBC8-CCB4-7712-515683F86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118" y="1063837"/>
            <a:ext cx="5819259" cy="56576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D99CE5C-7291-6A44-2FA9-56195D930587}"/>
              </a:ext>
            </a:extLst>
          </p:cNvPr>
          <p:cNvSpPr txBox="1"/>
          <p:nvPr/>
        </p:nvSpPr>
        <p:spPr>
          <a:xfrm>
            <a:off x="233623" y="1165228"/>
            <a:ext cx="590549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FastAPI</a:t>
            </a:r>
            <a:r>
              <a:rPr lang="en-IN" sz="1700" b="1" dirty="0"/>
              <a:t>:</a:t>
            </a:r>
            <a:r>
              <a:rPr lang="en-IN" sz="1700" dirty="0"/>
              <a:t> REST-based backend &amp; AI/data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Backend:</a:t>
            </a:r>
            <a:r>
              <a:rPr lang="en-IN" sz="1700" dirty="0"/>
              <a:t> </a:t>
            </a:r>
            <a:r>
              <a:rPr lang="en-IN" sz="1700" dirty="0" err="1"/>
              <a:t>FastAPI</a:t>
            </a:r>
            <a:r>
              <a:rPr lang="en-IN" sz="1700" dirty="0"/>
              <a:t> + </a:t>
            </a:r>
            <a:r>
              <a:rPr lang="en-IN" sz="1700" dirty="0" err="1"/>
              <a:t>Pydantic</a:t>
            </a:r>
            <a:r>
              <a:rPr lang="en-IN" sz="1700" dirty="0"/>
              <a:t> — modular REST APIs and validated data contracts.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Adaptive Engine:</a:t>
            </a:r>
            <a:r>
              <a:rPr lang="en-IN" sz="1700" dirty="0"/>
              <a:t> Mastery scoring + SM-2 forgetting curve.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Next.js + Recharts:</a:t>
            </a:r>
            <a:r>
              <a:rPr lang="en-IN" sz="1700" dirty="0"/>
              <a:t> Interactive platform &amp; dynamic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Gemini AI:</a:t>
            </a:r>
            <a:r>
              <a:rPr lang="en-IN" sz="1700" dirty="0"/>
              <a:t> Competency analysis &amp; dynamic assessment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kern="0" spc="-25" dirty="0" err="1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iGOT</a:t>
            </a:r>
            <a:r>
              <a:rPr lang="en-US" sz="1700" b="1" kern="0" spc="-25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Integration</a:t>
            </a:r>
            <a:r>
              <a:rPr lang="en-US" sz="1700" kern="0" spc="-25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against </a:t>
            </a:r>
            <a:r>
              <a:rPr lang="en-US" sz="1700" kern="0" spc="-25" dirty="0" err="1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iGOT</a:t>
            </a:r>
            <a:r>
              <a:rPr lang="en-US" sz="1700" kern="0" spc="-25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700" kern="0" spc="-25" dirty="0" err="1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Karmayogi's</a:t>
            </a:r>
            <a:r>
              <a:rPr lang="en-US" sz="1700" kern="0" spc="-25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course-catalogue and enrolment-tracking APIs</a:t>
            </a:r>
            <a:endParaRPr lang="en-IN" sz="1700" dirty="0"/>
          </a:p>
          <a:p>
            <a:endParaRPr lang="en-I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774" y="83355"/>
            <a:ext cx="11603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Viksit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384D40-2420-8F52-25C0-BCC96BE98B0B}"/>
              </a:ext>
            </a:extLst>
          </p:cNvPr>
          <p:cNvSpPr/>
          <p:nvPr/>
        </p:nvSpPr>
        <p:spPr>
          <a:xfrm>
            <a:off x="3022600" y="189955"/>
            <a:ext cx="6129867" cy="57255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2407FF-CDD7-14E0-3E82-36856A5D2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09619"/>
              </p:ext>
            </p:extLst>
          </p:nvPr>
        </p:nvGraphicFramePr>
        <p:xfrm>
          <a:off x="228600" y="1078457"/>
          <a:ext cx="11867872" cy="5696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0869">
                  <a:extLst>
                    <a:ext uri="{9D8B030D-6E8A-4147-A177-3AD203B41FA5}">
                      <a16:colId xmlns:a16="http://schemas.microsoft.com/office/drawing/2014/main" val="4220840146"/>
                    </a:ext>
                  </a:extLst>
                </a:gridCol>
                <a:gridCol w="5917003">
                  <a:extLst>
                    <a:ext uri="{9D8B030D-6E8A-4147-A177-3AD203B41FA5}">
                      <a16:colId xmlns:a16="http://schemas.microsoft.com/office/drawing/2014/main" val="2994370469"/>
                    </a:ext>
                  </a:extLst>
                </a:gridCol>
              </a:tblGrid>
              <a:tr h="5696188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63789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0E38-F14A-C9F1-3DDF-76A99A8BC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283143"/>
            <a:ext cx="5935133" cy="365125"/>
          </a:xfrm>
        </p:spPr>
        <p:txBody>
          <a:bodyPr/>
          <a:lstStyle/>
          <a:p>
            <a:pPr marL="0" indent="0" algn="ctr">
              <a:lnSpc>
                <a:spcPts val="2138"/>
              </a:lnSpc>
              <a:buNone/>
            </a:pPr>
            <a:r>
              <a:rPr lang="en-US" sz="2400" b="1" kern="0" dirty="0">
                <a:solidFill>
                  <a:schemeClr val="tx2">
                    <a:lumMod val="75000"/>
                    <a:alpha val="99000"/>
                  </a:scheme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FEASIBILITY</a:t>
            </a:r>
            <a:endParaRPr lang="en-US" sz="2400" dirty="0">
              <a:solidFill>
                <a:schemeClr val="tx2">
                  <a:lumMod val="75000"/>
                  <a:alpha val="99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BBB39-FE35-53B0-2550-BCE728889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3734" y="1230553"/>
            <a:ext cx="5932738" cy="470304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kern="0" dirty="0">
                <a:solidFill>
                  <a:schemeClr val="tx2">
                    <a:lumMod val="75000"/>
                  </a:scheme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VIABILITY</a:t>
            </a:r>
            <a:endParaRPr lang="en-IN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6BD5F-7F87-8B29-57B1-2EEAA8199F09}"/>
              </a:ext>
            </a:extLst>
          </p:cNvPr>
          <p:cNvSpPr txBox="1"/>
          <p:nvPr/>
        </p:nvSpPr>
        <p:spPr>
          <a:xfrm>
            <a:off x="325966" y="1485878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1.Technical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6AE09-9CB3-8F39-C876-4B6A73B4B12B}"/>
              </a:ext>
            </a:extLst>
          </p:cNvPr>
          <p:cNvSpPr txBox="1"/>
          <p:nvPr/>
        </p:nvSpPr>
        <p:spPr>
          <a:xfrm>
            <a:off x="296333" y="1900576"/>
            <a:ext cx="587586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/>
              <a:t>API-ready:</a:t>
            </a:r>
            <a:r>
              <a:rPr lang="en-IN" sz="1700" dirty="0"/>
              <a:t> Fits existing government digital infrastructure.</a:t>
            </a:r>
          </a:p>
          <a:p>
            <a:pPr lvl="0"/>
            <a:r>
              <a:rPr lang="en-IN" sz="1700" b="1" dirty="0"/>
              <a:t>Data-ready:</a:t>
            </a:r>
            <a:r>
              <a:rPr lang="en-IN" sz="1700" dirty="0"/>
              <a:t> Required datasets available for pilot deployment.</a:t>
            </a:r>
          </a:p>
          <a:p>
            <a:pPr lvl="0"/>
            <a:r>
              <a:rPr lang="en-IN" sz="1700" b="1" dirty="0"/>
              <a:t>Pilotable:</a:t>
            </a:r>
            <a:r>
              <a:rPr lang="en-IN" sz="1700" dirty="0"/>
              <a:t> Can be validated with selected roles before scale-up.</a:t>
            </a:r>
          </a:p>
          <a:p>
            <a:pPr lvl="0"/>
            <a:r>
              <a:rPr lang="en-IN" sz="1700" b="1" dirty="0"/>
              <a:t>Incremental implementation:</a:t>
            </a:r>
            <a:r>
              <a:rPr lang="en-IN" sz="1700" dirty="0"/>
              <a:t> Can start with a limited department/role and expand after validation.</a:t>
            </a:r>
          </a:p>
          <a:p>
            <a:endParaRPr lang="en-IN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B3B07-E4AE-0FA2-A269-FB5B3580732D}"/>
              </a:ext>
            </a:extLst>
          </p:cNvPr>
          <p:cNvSpPr txBox="1"/>
          <p:nvPr/>
        </p:nvSpPr>
        <p:spPr>
          <a:xfrm>
            <a:off x="296333" y="3281683"/>
            <a:ext cx="1921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2.Operational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ABFC6-E22F-AB78-C735-DB7BC33BF9E7}"/>
              </a:ext>
            </a:extLst>
          </p:cNvPr>
          <p:cNvSpPr txBox="1"/>
          <p:nvPr/>
        </p:nvSpPr>
        <p:spPr>
          <a:xfrm>
            <a:off x="325966" y="3705658"/>
            <a:ext cx="574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Easy adoption:</a:t>
            </a:r>
            <a:r>
              <a:rPr lang="en-IN" dirty="0"/>
              <a:t> Web-based; no special hardware required.</a:t>
            </a:r>
          </a:p>
          <a:p>
            <a:r>
              <a:rPr lang="en-IN" b="1" dirty="0"/>
              <a:t>Workflow-compatible:</a:t>
            </a:r>
            <a:r>
              <a:rPr lang="en-IN" dirty="0"/>
              <a:t> Complements existing training processes.</a:t>
            </a:r>
          </a:p>
          <a:p>
            <a:r>
              <a:rPr lang="en-IN" b="1" dirty="0"/>
              <a:t>Maintainable:</a:t>
            </a:r>
            <a:r>
              <a:rPr lang="en-IN" dirty="0"/>
              <a:t> New roles and content can be added easily.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652C9-BBA0-42C5-E95E-D7E6B8745562}"/>
              </a:ext>
            </a:extLst>
          </p:cNvPr>
          <p:cNvSpPr txBox="1"/>
          <p:nvPr/>
        </p:nvSpPr>
        <p:spPr>
          <a:xfrm>
            <a:off x="296333" y="4885795"/>
            <a:ext cx="22817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3.Legal &amp; Ethical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66154-BBD1-D7F2-BA74-3CEBA2D718E6}"/>
              </a:ext>
            </a:extLst>
          </p:cNvPr>
          <p:cNvSpPr txBox="1"/>
          <p:nvPr/>
        </p:nvSpPr>
        <p:spPr>
          <a:xfrm>
            <a:off x="325966" y="5296490"/>
            <a:ext cx="5672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Privacy-first:</a:t>
            </a:r>
            <a:r>
              <a:rPr lang="en-IN" dirty="0"/>
              <a:t> Collects only essential user data.</a:t>
            </a:r>
          </a:p>
          <a:p>
            <a:r>
              <a:rPr lang="en-IN" b="1" dirty="0"/>
              <a:t>Controlled access:</a:t>
            </a:r>
            <a:r>
              <a:rPr lang="en-IN" dirty="0"/>
              <a:t> </a:t>
            </a:r>
            <a:r>
              <a:rPr lang="en-IN" sz="1700" dirty="0"/>
              <a:t>Role-based</a:t>
            </a:r>
            <a:r>
              <a:rPr lang="en-IN" dirty="0"/>
              <a:t> visibility of employee information.</a:t>
            </a:r>
          </a:p>
          <a:p>
            <a:r>
              <a:rPr lang="en-IN" b="1" dirty="0"/>
              <a:t>Responsible AI:</a:t>
            </a:r>
            <a:r>
              <a:rPr lang="en-IN" dirty="0"/>
              <a:t> Explainable outputs with human oversight.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486415-DFDB-AE0C-CE91-9692773286EA}"/>
              </a:ext>
            </a:extLst>
          </p:cNvPr>
          <p:cNvSpPr txBox="1"/>
          <p:nvPr/>
        </p:nvSpPr>
        <p:spPr>
          <a:xfrm>
            <a:off x="6351086" y="1513074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1.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 Economic</a:t>
            </a:r>
            <a:endParaRPr lang="en-IN" sz="2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A15E5A-1EBE-1403-E206-92DD375717F0}"/>
              </a:ext>
            </a:extLst>
          </p:cNvPr>
          <p:cNvSpPr txBox="1"/>
          <p:nvPr/>
        </p:nvSpPr>
        <p:spPr>
          <a:xfrm>
            <a:off x="6368700" y="1866832"/>
            <a:ext cx="564910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/>
              <a:t>Cost-efficient:</a:t>
            </a:r>
            <a:r>
              <a:rPr lang="en-IN" sz="1700" dirty="0"/>
              <a:t> Reduces recurring manual assessment and training effort. </a:t>
            </a:r>
          </a:p>
          <a:p>
            <a:pPr lvl="0"/>
            <a:r>
              <a:rPr lang="en-IN" sz="1700" b="1" dirty="0"/>
              <a:t>Reusable investment:</a:t>
            </a:r>
            <a:r>
              <a:rPr lang="en-IN" sz="1700" dirty="0"/>
              <a:t> One platform can serve multiple roles and departments. </a:t>
            </a:r>
          </a:p>
          <a:p>
            <a:pPr lvl="0"/>
            <a:r>
              <a:rPr lang="en-IN" sz="1700" b="1" dirty="0"/>
              <a:t>Phased deployment:</a:t>
            </a:r>
            <a:r>
              <a:rPr lang="en-IN" sz="1700" dirty="0"/>
              <a:t> Pilot first, expand based on measurable results.</a:t>
            </a:r>
          </a:p>
          <a:p>
            <a:endParaRPr lang="en-IN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814F30-340E-B693-C6CD-078DF13F298B}"/>
              </a:ext>
            </a:extLst>
          </p:cNvPr>
          <p:cNvSpPr txBox="1"/>
          <p:nvPr/>
        </p:nvSpPr>
        <p:spPr>
          <a:xfrm>
            <a:off x="6290034" y="3453566"/>
            <a:ext cx="1921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2.Operational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2987F7-1DB0-A41A-054F-0B916836D7F2}"/>
              </a:ext>
            </a:extLst>
          </p:cNvPr>
          <p:cNvSpPr txBox="1"/>
          <p:nvPr/>
        </p:nvSpPr>
        <p:spPr>
          <a:xfrm>
            <a:off x="6305550" y="3789667"/>
            <a:ext cx="56491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/>
              <a:t>User scalability:</a:t>
            </a:r>
            <a:r>
              <a:rPr lang="en-IN" sz="1700" dirty="0"/>
              <a:t> Supports expansion from pilot users to department-wide deployment. </a:t>
            </a:r>
          </a:p>
          <a:p>
            <a:pPr lvl="0"/>
            <a:r>
              <a:rPr lang="en-IN" sz="1700" b="1" dirty="0"/>
              <a:t>Content scalability:</a:t>
            </a:r>
            <a:r>
              <a:rPr lang="en-IN" sz="1700" dirty="0"/>
              <a:t> New competencies, roles and learning resources can be added incrementally. </a:t>
            </a:r>
          </a:p>
          <a:p>
            <a:pPr lvl="0"/>
            <a:r>
              <a:rPr lang="en-IN" sz="1700" b="1" dirty="0"/>
              <a:t>Data scalability:</a:t>
            </a:r>
            <a:r>
              <a:rPr lang="en-IN" sz="1700" dirty="0"/>
              <a:t> Can progressively integrate additional statistical datasets and government sources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246D0-2042-D5A5-1867-69B09709494F}"/>
              </a:ext>
            </a:extLst>
          </p:cNvPr>
          <p:cNvSpPr txBox="1"/>
          <p:nvPr/>
        </p:nvSpPr>
        <p:spPr>
          <a:xfrm>
            <a:off x="6309783" y="5340578"/>
            <a:ext cx="22817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3.Social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075F5A-AD9B-954F-20E3-72DF3450FCFE}"/>
              </a:ext>
            </a:extLst>
          </p:cNvPr>
          <p:cNvSpPr txBox="1"/>
          <p:nvPr/>
        </p:nvSpPr>
        <p:spPr>
          <a:xfrm>
            <a:off x="6310116" y="5684761"/>
            <a:ext cx="576627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/>
              <a:t>Workforce development:</a:t>
            </a:r>
            <a:r>
              <a:rPr lang="en-IN" sz="1700" dirty="0"/>
              <a:t> Enables continuous upskilling of statistical officials. </a:t>
            </a:r>
          </a:p>
          <a:p>
            <a:pPr lvl="0"/>
            <a:r>
              <a:rPr lang="en-IN" sz="1700" b="1" dirty="0"/>
              <a:t>Long-term impact:</a:t>
            </a:r>
            <a:r>
              <a:rPr lang="en-IN" sz="1700" dirty="0"/>
              <a:t> Improves knowledge retention and institutional capability.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019721" y="136522"/>
            <a:ext cx="5037667" cy="4985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61267"/>
            <a:ext cx="1134960" cy="7345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Team Viksit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A193E66-F124-F343-1135-B2A4F31A72F5}"/>
              </a:ext>
            </a:extLst>
          </p:cNvPr>
          <p:cNvSpPr/>
          <p:nvPr/>
        </p:nvSpPr>
        <p:spPr>
          <a:xfrm>
            <a:off x="2912533" y="61267"/>
            <a:ext cx="5300134" cy="65934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7BACB8-F46E-B0F8-1009-189C47990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325524"/>
              </p:ext>
            </p:extLst>
          </p:nvPr>
        </p:nvGraphicFramePr>
        <p:xfrm>
          <a:off x="162064" y="1063837"/>
          <a:ext cx="11867872" cy="5635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3936">
                  <a:extLst>
                    <a:ext uri="{9D8B030D-6E8A-4147-A177-3AD203B41FA5}">
                      <a16:colId xmlns:a16="http://schemas.microsoft.com/office/drawing/2014/main" val="3988636199"/>
                    </a:ext>
                  </a:extLst>
                </a:gridCol>
                <a:gridCol w="5933936">
                  <a:extLst>
                    <a:ext uri="{9D8B030D-6E8A-4147-A177-3AD203B41FA5}">
                      <a16:colId xmlns:a16="http://schemas.microsoft.com/office/drawing/2014/main" val="1377931284"/>
                    </a:ext>
                  </a:extLst>
                </a:gridCol>
              </a:tblGrid>
              <a:tr h="56357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BENEFITS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IMPACTS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321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A01BC2-2F76-D292-E6F6-5092AFFEC3E6}"/>
              </a:ext>
            </a:extLst>
          </p:cNvPr>
          <p:cNvSpPr txBox="1"/>
          <p:nvPr/>
        </p:nvSpPr>
        <p:spPr>
          <a:xfrm>
            <a:off x="325966" y="1485878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1.Employee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78CED-1F7E-7C06-ABB8-224C3A7F965B}"/>
              </a:ext>
            </a:extLst>
          </p:cNvPr>
          <p:cNvSpPr txBox="1"/>
          <p:nvPr/>
        </p:nvSpPr>
        <p:spPr>
          <a:xfrm>
            <a:off x="325966" y="1916765"/>
            <a:ext cx="560070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/>
              <a:t>Targeted Learning</a:t>
            </a:r>
            <a:r>
              <a:rPr lang="en-IN" sz="1700" dirty="0"/>
              <a:t> — Focuses training on actual competency gaps. </a:t>
            </a:r>
          </a:p>
          <a:p>
            <a:pPr lvl="0"/>
            <a:r>
              <a:rPr lang="en-IN" sz="1700" b="1" dirty="0"/>
              <a:t>Instant Feedback</a:t>
            </a:r>
            <a:r>
              <a:rPr lang="en-IN" sz="1700" dirty="0"/>
              <a:t> — Shows strengths, weaknesses and next priorities. </a:t>
            </a:r>
          </a:p>
          <a:p>
            <a:pPr lvl="0"/>
            <a:r>
              <a:rPr lang="en-IN" sz="1700" b="1" dirty="0"/>
              <a:t>Better Retention</a:t>
            </a:r>
            <a:r>
              <a:rPr lang="en-IN" sz="1700" dirty="0"/>
              <a:t> — Timely revision reinforces important skills.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2F6F9D-731D-F090-3AA9-EAA8926728EB}"/>
              </a:ext>
            </a:extLst>
          </p:cNvPr>
          <p:cNvSpPr txBox="1"/>
          <p:nvPr/>
        </p:nvSpPr>
        <p:spPr>
          <a:xfrm>
            <a:off x="325966" y="3706540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2.Administrative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6A815-F8E5-CF23-3EC7-6E4B4C365F76}"/>
              </a:ext>
            </a:extLst>
          </p:cNvPr>
          <p:cNvSpPr txBox="1"/>
          <p:nvPr/>
        </p:nvSpPr>
        <p:spPr>
          <a:xfrm>
            <a:off x="325966" y="4111741"/>
            <a:ext cx="5436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Less Manual Effort</a:t>
            </a:r>
            <a:r>
              <a:rPr lang="en-IN" dirty="0"/>
              <a:t> — Automates assessment and progress monitoring. </a:t>
            </a:r>
          </a:p>
          <a:p>
            <a:pPr lvl="0"/>
            <a:r>
              <a:rPr lang="en-IN" b="1" dirty="0"/>
              <a:t>Clear Visibility</a:t>
            </a:r>
            <a:r>
              <a:rPr lang="en-IN" dirty="0"/>
              <a:t> — Shows competency status and priority gaps across employees. </a:t>
            </a:r>
          </a:p>
          <a:p>
            <a:pPr lvl="0"/>
            <a:r>
              <a:rPr lang="en-IN" b="1" dirty="0"/>
              <a:t>Faster Intervention</a:t>
            </a:r>
            <a:r>
              <a:rPr lang="en-IN" dirty="0"/>
              <a:t> — Helps identify who needs support and where.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9C686A-3491-1871-9959-C741B7C3F9AB}"/>
              </a:ext>
            </a:extLst>
          </p:cNvPr>
          <p:cNvSpPr txBox="1"/>
          <p:nvPr/>
        </p:nvSpPr>
        <p:spPr>
          <a:xfrm>
            <a:off x="6342888" y="1485878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1.Workforce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84474-5923-1908-6EBE-8A21F7CEDF55}"/>
              </a:ext>
            </a:extLst>
          </p:cNvPr>
          <p:cNvSpPr txBox="1"/>
          <p:nvPr/>
        </p:nvSpPr>
        <p:spPr>
          <a:xfrm>
            <a:off x="6250200" y="1916765"/>
            <a:ext cx="5615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Higher Competency Levels</a:t>
            </a:r>
            <a:r>
              <a:rPr lang="en-IN" dirty="0"/>
              <a:t> — Builds stronger role-specific capabilities. </a:t>
            </a:r>
          </a:p>
          <a:p>
            <a:pPr lvl="0"/>
            <a:r>
              <a:rPr lang="en-IN" b="1" dirty="0"/>
              <a:t>Continuous Upskilling</a:t>
            </a:r>
            <a:r>
              <a:rPr lang="en-IN" dirty="0"/>
              <a:t> — Creates an ongoing learning and improvement cycle.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00C9C-21F9-A718-2D79-ECD0571649A8}"/>
              </a:ext>
            </a:extLst>
          </p:cNvPr>
          <p:cNvSpPr txBox="1"/>
          <p:nvPr/>
        </p:nvSpPr>
        <p:spPr>
          <a:xfrm>
            <a:off x="6351086" y="3706539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tx2">
                    <a:lumMod val="75000"/>
                  </a:schemeClr>
                </a:solidFill>
              </a:rPr>
              <a:t>2.In System-Level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F8CE14-C318-CE86-89DB-82D93D439038}"/>
              </a:ext>
            </a:extLst>
          </p:cNvPr>
          <p:cNvSpPr txBox="1"/>
          <p:nvPr/>
        </p:nvSpPr>
        <p:spPr>
          <a:xfrm>
            <a:off x="6250201" y="4140363"/>
            <a:ext cx="56158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Improved Statistical Capacity</a:t>
            </a:r>
            <a:r>
              <a:rPr lang="en-IN" dirty="0"/>
              <a:t> — Strengthens the capability of the Official Statistical System. </a:t>
            </a:r>
          </a:p>
          <a:p>
            <a:pPr lvl="0"/>
            <a:r>
              <a:rPr lang="en-IN" b="1" dirty="0"/>
              <a:t>Better Data Quality</a:t>
            </a:r>
            <a:r>
              <a:rPr lang="en-IN" dirty="0"/>
              <a:t> — Skilled officials contribute to more reliable statistical outputs. </a:t>
            </a:r>
          </a:p>
          <a:p>
            <a:pPr lvl="0"/>
            <a:r>
              <a:rPr lang="en-IN" b="1" dirty="0"/>
              <a:t>Evidence-Based Planning</a:t>
            </a:r>
            <a:r>
              <a:rPr lang="en-IN" dirty="0"/>
              <a:t> — Workforce competency insights support better training and resource decisions.</a:t>
            </a:r>
          </a:p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9F6E33-0E2A-0137-E4D0-1AE815925305}"/>
              </a:ext>
            </a:extLst>
          </p:cNvPr>
          <p:cNvSpPr/>
          <p:nvPr/>
        </p:nvSpPr>
        <p:spPr>
          <a:xfrm>
            <a:off x="2420113" y="1132294"/>
            <a:ext cx="1381198" cy="370850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538081-B2C3-20B5-B187-F590FC1C17D0}"/>
              </a:ext>
            </a:extLst>
          </p:cNvPr>
          <p:cNvSpPr/>
          <p:nvPr/>
        </p:nvSpPr>
        <p:spPr>
          <a:xfrm>
            <a:off x="8390692" y="1112092"/>
            <a:ext cx="1381196" cy="370850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56859" y="41079"/>
            <a:ext cx="7242600" cy="503238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41079"/>
            <a:ext cx="1133267" cy="7144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Team </a:t>
            </a:r>
          </a:p>
          <a:p>
            <a:pPr algn="ctr"/>
            <a:r>
              <a:rPr lang="en-US" dirty="0"/>
              <a:t>Viksit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127" y="0"/>
            <a:ext cx="2015079" cy="9514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F0E154-A72A-F162-DE8D-448B3CBEA670}"/>
              </a:ext>
            </a:extLst>
          </p:cNvPr>
          <p:cNvSpPr/>
          <p:nvPr/>
        </p:nvSpPr>
        <p:spPr>
          <a:xfrm>
            <a:off x="296332" y="951484"/>
            <a:ext cx="11540067" cy="56160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487B3-7DA5-F39C-7196-227D9C9FD4A5}"/>
              </a:ext>
            </a:extLst>
          </p:cNvPr>
          <p:cNvSpPr txBox="1"/>
          <p:nvPr/>
        </p:nvSpPr>
        <p:spPr>
          <a:xfrm>
            <a:off x="446060" y="1035484"/>
            <a:ext cx="11136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 err="1"/>
              <a:t>MoSPI</a:t>
            </a:r>
            <a:r>
              <a:rPr lang="en-IN" b="1" dirty="0"/>
              <a:t> – Ministry of Statistics &amp; Programme Implementation:</a:t>
            </a:r>
            <a:r>
              <a:rPr lang="en-IN" dirty="0"/>
              <a:t> Official source for India's Official Statistical System, statistical programmes, publications and datasets.</a:t>
            </a:r>
          </a:p>
          <a:p>
            <a:r>
              <a:rPr lang="en-IN" dirty="0"/>
              <a:t>       </a:t>
            </a:r>
            <a:r>
              <a:rPr lang="en-IN" dirty="0">
                <a:hlinkClick r:id="rId4"/>
              </a:rPr>
              <a:t>https://www.mospi.gov.in/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CA80A-B1B6-BE02-E9E5-34DAB4C35A7B}"/>
              </a:ext>
            </a:extLst>
          </p:cNvPr>
          <p:cNvSpPr txBox="1"/>
          <p:nvPr/>
        </p:nvSpPr>
        <p:spPr>
          <a:xfrm>
            <a:off x="446060" y="2042815"/>
            <a:ext cx="10873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IN" b="1" dirty="0" err="1"/>
              <a:t>MoSPI</a:t>
            </a:r>
            <a:r>
              <a:rPr lang="en-IN" b="1" dirty="0"/>
              <a:t> Microdata Portal (NADA):</a:t>
            </a:r>
            <a:r>
              <a:rPr lang="en-IN" dirty="0"/>
              <a:t> Provides access to official unit-level datasets such as </a:t>
            </a:r>
            <a:r>
              <a:rPr lang="en-IN" b="1" dirty="0"/>
              <a:t>PLFS, ASI, HCES and ASUSE</a:t>
            </a:r>
            <a:r>
              <a:rPr lang="en-IN" dirty="0"/>
              <a:t> used as the statistical-data foundation. </a:t>
            </a:r>
          </a:p>
          <a:p>
            <a:r>
              <a:rPr lang="en-IN" dirty="0"/>
              <a:t>      </a:t>
            </a:r>
            <a:r>
              <a:rPr lang="en-IN" dirty="0">
                <a:hlinkClick r:id="rId5"/>
              </a:rPr>
              <a:t>https://microdata.gov.in/NADA/index.php/catalog</a:t>
            </a:r>
            <a:endParaRPr lang="en-IN" dirty="0"/>
          </a:p>
        </p:txBody>
      </p:sp>
      <p:sp>
        <p:nvSpPr>
          <p:cNvPr id="5" name="TextBox 4">
            <a:hlinkClick r:id="rId6"/>
            <a:extLst>
              <a:ext uri="{FF2B5EF4-FFF2-40B4-BE49-F238E27FC236}">
                <a16:creationId xmlns:a16="http://schemas.microsoft.com/office/drawing/2014/main" id="{93EF59A4-F404-9BD7-E683-4F185558DFFA}"/>
              </a:ext>
            </a:extLst>
          </p:cNvPr>
          <p:cNvSpPr txBox="1"/>
          <p:nvPr/>
        </p:nvSpPr>
        <p:spPr>
          <a:xfrm>
            <a:off x="448719" y="3162145"/>
            <a:ext cx="10873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</a:t>
            </a:r>
            <a:r>
              <a:rPr lang="en-IN" b="1" dirty="0" err="1"/>
              <a:t>iGOT</a:t>
            </a:r>
            <a:r>
              <a:rPr lang="en-IN" b="1" dirty="0"/>
              <a:t> </a:t>
            </a:r>
            <a:r>
              <a:rPr lang="en-IN" b="1" dirty="0" err="1"/>
              <a:t>Karmayogi</a:t>
            </a:r>
            <a:r>
              <a:rPr lang="en-IN" b="1" dirty="0"/>
              <a:t>:</a:t>
            </a:r>
            <a:r>
              <a:rPr lang="en-IN" dirty="0"/>
              <a:t> National digital learning platform providing role/competency-oriented learning resources for government officials; serves as a reference for the capacity-building ecosystem.</a:t>
            </a:r>
          </a:p>
          <a:p>
            <a:r>
              <a:rPr lang="en-IN" dirty="0"/>
              <a:t>      </a:t>
            </a:r>
            <a:r>
              <a:rPr lang="en-IN" dirty="0">
                <a:hlinkClick r:id="rId6"/>
              </a:rPr>
              <a:t>https://www.igotkarmayogi.gov.in/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C8819-D7E6-88D3-21C2-4B0AED1C1728}"/>
              </a:ext>
            </a:extLst>
          </p:cNvPr>
          <p:cNvSpPr txBox="1"/>
          <p:nvPr/>
        </p:nvSpPr>
        <p:spPr>
          <a:xfrm>
            <a:off x="490328" y="4222109"/>
            <a:ext cx="10785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National Accounts Statistics – </a:t>
            </a:r>
            <a:r>
              <a:rPr lang="en-IN" b="1" dirty="0" err="1"/>
              <a:t>MoSPI</a:t>
            </a:r>
            <a:r>
              <a:rPr lang="en-IN" b="1" dirty="0"/>
              <a:t>:</a:t>
            </a:r>
            <a:r>
              <a:rPr lang="en-IN" dirty="0"/>
              <a:t> Official statistical framework covering indicators such as GDP, GVA, GSDP and related national accounts data.</a:t>
            </a:r>
          </a:p>
          <a:p>
            <a:r>
              <a:rPr lang="en-IN" dirty="0"/>
              <a:t>    </a:t>
            </a:r>
            <a:r>
              <a:rPr lang="en-IN" dirty="0">
                <a:hlinkClick r:id="rId4"/>
              </a:rPr>
              <a:t>https://www.mospi.gov.in/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D99BFB-CDA0-6FC8-A3EE-F84645A41C1D}"/>
              </a:ext>
            </a:extLst>
          </p:cNvPr>
          <p:cNvSpPr txBox="1"/>
          <p:nvPr/>
        </p:nvSpPr>
        <p:spPr>
          <a:xfrm>
            <a:off x="490328" y="5229440"/>
            <a:ext cx="1097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5. Mission </a:t>
            </a:r>
            <a:r>
              <a:rPr lang="en-IN" b="1" dirty="0" err="1"/>
              <a:t>Karmayogi</a:t>
            </a:r>
            <a:r>
              <a:rPr lang="en-IN" b="1" dirty="0"/>
              <a:t> / Competency-Driven Capacity Building:</a:t>
            </a:r>
            <a:r>
              <a:rPr lang="en-IN" dirty="0"/>
              <a:t> Reference for competency-based, continuous professional development of government officials. </a:t>
            </a:r>
          </a:p>
          <a:p>
            <a:r>
              <a:rPr lang="en-IN" dirty="0"/>
              <a:t>    </a:t>
            </a:r>
            <a:r>
              <a:rPr lang="en-IN" dirty="0">
                <a:hlinkClick r:id="rId6"/>
              </a:rPr>
              <a:t>https://www.igotkarmayogi.gov.in/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8131</TotalTime>
  <Words>809</Words>
  <Application>Microsoft Office PowerPoint</Application>
  <PresentationFormat>Widescreen</PresentationFormat>
  <Paragraphs>127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Plus Jakarta Sans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Omkar Jadhav</cp:lastModifiedBy>
  <cp:revision>149</cp:revision>
  <dcterms:created xsi:type="dcterms:W3CDTF">2013-12-12T18:46:50Z</dcterms:created>
  <dcterms:modified xsi:type="dcterms:W3CDTF">2026-08-31T07:27:34Z</dcterms:modified>
  <cp:category/>
</cp:coreProperties>
</file>